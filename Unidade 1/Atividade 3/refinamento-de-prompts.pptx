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E65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E6580"/>
                </a:solidFill>
                <a:latin typeface="Calibri"/>
              </a:rPr>
              <a:t>Notas por critério (escala de 1 a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 1</c:v>
                </c:pt>
              </c:strCache>
            </c:strRef>
          </c:tx>
          <c:spPr>
            <a:solidFill>
              <a:srgbClr val="F64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Clareza</c:v>
                  </c:pt>
                  <c:pt idx="1">
                    <c:v>Precisão</c:v>
                  </c:pt>
                  <c:pt idx="2">
                    <c:v>Relevância</c:v>
                  </c:pt>
                  <c:pt idx="3">
                    <c:v>Organização</c:v>
                  </c:pt>
                  <c:pt idx="4">
                    <c:v>Adequação
ao público</c:v>
                  </c:pt>
                  <c:pt idx="5">
                    <c:v>Atendimento
ao objetivo</c:v>
                  </c:pt>
                  <c:pt idx="6">
                    <c:v>Utilidade
prática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 2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Clareza</c:v>
                  </c:pt>
                  <c:pt idx="1">
                    <c:v>Precisão</c:v>
                  </c:pt>
                  <c:pt idx="2">
                    <c:v>Relevância</c:v>
                  </c:pt>
                  <c:pt idx="3">
                    <c:v>Organização</c:v>
                  </c:pt>
                  <c:pt idx="4">
                    <c:v>Adequação
ao público</c:v>
                  </c:pt>
                  <c:pt idx="5">
                    <c:v>Atendimento
ao objetivo</c:v>
                  </c:pt>
                  <c:pt idx="6">
                    <c:v>Utilidade
prática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41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3D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1A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E658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6E6580"/>
                </a:solidFill>
                <a:latin typeface="Calibri"/>
              </a:rPr>
              <a:t>Notas por critério (1 a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 1</c:v>
                </c:pt>
              </c:strCache>
            </c:strRef>
          </c:tx>
          <c:spPr>
            <a:solidFill>
              <a:srgbClr val="F641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Clareza</c:v>
                  </c:pt>
                  <c:pt idx="1">
                    <c:v>Precisão</c:v>
                  </c:pt>
                  <c:pt idx="2">
                    <c:v>Relevância</c:v>
                  </c:pt>
                  <c:pt idx="3">
                    <c:v>Organização</c:v>
                  </c:pt>
                  <c:pt idx="4">
                    <c:v>Adequação
ao público</c:v>
                  </c:pt>
                  <c:pt idx="5">
                    <c:v>Atendimento
ao objetivo</c:v>
                  </c:pt>
                  <c:pt idx="6">
                    <c:v>Utilidade
prática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 2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Clareza</c:v>
                  </c:pt>
                  <c:pt idx="1">
                    <c:v>Precisão</c:v>
                  </c:pt>
                  <c:pt idx="2">
                    <c:v>Relevância</c:v>
                  </c:pt>
                  <c:pt idx="3">
                    <c:v>Organização</c:v>
                  </c:pt>
                  <c:pt idx="4">
                    <c:v>Adequação
ao público</c:v>
                  </c:pt>
                  <c:pt idx="5">
                    <c:v>Atendimento
ao objetivo</c:v>
                  </c:pt>
                  <c:pt idx="6">
                    <c:v>Utilidade
prática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Prompt 3</c:v>
                </c:pt>
              </c:strCache>
            </c:strRef>
          </c:tx>
          <c:spPr>
            <a:solidFill>
              <a:srgbClr val="3B2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Clareza</c:v>
                  </c:pt>
                  <c:pt idx="1">
                    <c:v>Precisão</c:v>
                  </c:pt>
                  <c:pt idx="2">
                    <c:v>Relevância</c:v>
                  </c:pt>
                  <c:pt idx="3">
                    <c:v>Organização</c:v>
                  </c:pt>
                  <c:pt idx="4">
                    <c:v>Adequação
ao público</c:v>
                  </c:pt>
                  <c:pt idx="5">
                    <c:v>Atendimento
ao objetivo</c:v>
                  </c:pt>
                  <c:pt idx="6">
                    <c:v>Utilidade
prática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E65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3D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5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41A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572000" cy="4572000"/>
          </a:xfrm>
          <a:prstGeom prst="ellipse">
            <a:avLst/>
          </a:prstGeom>
          <a:solidFill>
            <a:srgbClr val="3B2A6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F6416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EM CIÊNCIA DA COMPUTAÇÃO · AULA 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Refinamento de </a:t>
            </a:r>
            <a:pPr indent="0" marL="0">
              <a:buNone/>
            </a:pPr>
            <a:r>
              <a:rPr lang="en-US" sz="5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prompt genérico à resposta validada: um estudo de caso com o algoritmo de Busca Binária.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6949440" cy="1783080"/>
          </a:xfrm>
          <a:prstGeom prst="roundRect">
            <a:avLst>
              <a:gd name="adj" fmla="val 6154"/>
            </a:avLst>
          </a:prstGeom>
          <a:solidFill>
            <a:srgbClr val="3B2A6B">
              <a:alpha val="75000"/>
            </a:srgbClr>
          </a:solidFill>
          <a:ln w="12700">
            <a:solidFill>
              <a:srgbClr val="5B4A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160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POR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526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Jhonathan de Moura Santos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RGM: 32813589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4526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Melissa Aragão Leite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RGM: 33999554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na cartilha "IA no comando? Você no controle." — Grupo IA STHEM/SEMESP e MetaRed TIC Brasil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significa refinar um prompt?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não é escrever mais palavras — é adicionar exatamente as informações que a IA precisava para entender quem responde, para quem, com qual objetivo e em qual formato.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4937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6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401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COMANDO EXPLICITA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82219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3730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382219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3730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32511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2336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432511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42336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82803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736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/ passo a passo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46120" y="482803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4736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saída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533095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20" name="Text 18"/>
          <p:cNvSpPr/>
          <p:nvPr/>
        </p:nvSpPr>
        <p:spPr>
          <a:xfrm>
            <a:off x="1115568" y="52395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46120" y="5330952"/>
            <a:ext cx="109728" cy="10972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22" name="Text 20"/>
          <p:cNvSpPr/>
          <p:nvPr/>
        </p:nvSpPr>
        <p:spPr>
          <a:xfrm>
            <a:off x="3447288" y="52395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qualidade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72200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DO REFINAMENTO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55448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3B2A6B">
              <a:alpha val="12000"/>
            </a:srgbClr>
          </a:solidFill>
          <a:ln w="12700">
            <a:solidFill>
              <a:srgbClr val="3B2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673352"/>
            <a:ext cx="384048" cy="384048"/>
          </a:xfrm>
          <a:prstGeom prst="ellipse">
            <a:avLst/>
          </a:prstGeom>
          <a:solidFill>
            <a:srgbClr val="3B2A6B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673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155448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2350008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24688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350008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3145536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F6416C">
              <a:alpha val="12000"/>
            </a:srgbClr>
          </a:solidFill>
          <a:ln w="12700">
            <a:solidFill>
              <a:srgbClr val="F641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3264408"/>
            <a:ext cx="384048" cy="38404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3145536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72200" y="3941064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3B2A6B">
              <a:alpha val="12000"/>
            </a:srgbClr>
          </a:solidFill>
          <a:ln w="12700">
            <a:solidFill>
              <a:srgbClr val="3B2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4059936"/>
            <a:ext cx="384048" cy="384048"/>
          </a:xfrm>
          <a:prstGeom prst="ellipse">
            <a:avLst/>
          </a:prstGeom>
          <a:solidFill>
            <a:srgbClr val="3B2A6B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3941064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72200" y="4736592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485546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4855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4736592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72200" y="553212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F6416C">
              <a:alpha val="12000"/>
            </a:srgbClr>
          </a:solidFill>
          <a:ln w="12700">
            <a:solidFill>
              <a:srgbClr val="F6416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5650992"/>
            <a:ext cx="384048" cy="384048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5650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03720" y="5532120"/>
            <a:ext cx="4480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4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REFINAMENTO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escolhido: Busca Binária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6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3B2A6B">
              <a:alpha val="8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do 1º ano de Ciência da Computação. Já conhecem vetores e laços de repetição, mas nunca estudaram algoritmos de busca.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74520"/>
            <a:ext cx="502920" cy="502920"/>
          </a:xfrm>
          <a:prstGeom prst="ellipse">
            <a:avLst/>
          </a:prstGeom>
          <a:solidFill>
            <a:srgbClr val="00A896">
              <a:alpha val="8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4871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em entender por que a busca binária é mais eficiente que a busca linear e sob qual condição ela pode ser usada.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6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874520"/>
            <a:ext cx="502920" cy="502920"/>
          </a:xfrm>
          <a:prstGeom prst="ellipse">
            <a:avLst/>
          </a:prstGeom>
          <a:solidFill>
            <a:srgbClr val="F6416C">
              <a:alpha val="8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24871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64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88036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Obter, com apoio da IA, uma explicação didática com exemplo numérico e comparação de complexidade — sem pedir um resumo pronto.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3B2A6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exemplo utilizado em todos os testes:  [ 2, 5, 8, 12, 16, 23, 38, 45, 56, 72 ]  — valor procurado: 23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CRIAR &amp; TESTAR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1 — versão inicial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1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“Explique o que é busca binária.”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(RESUMO)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genérica de busca binária, menciona a divisão do intervalo pela metade e complexidade O(log n), aplicações em bancos de dados. Resposta curta, sem exemplo numérico.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212080" cy="4526280"/>
          </a:xfrm>
          <a:prstGeom prst="roundRect">
            <a:avLst>
              <a:gd name="adj" fmla="val 2020"/>
            </a:avLst>
          </a:prstGeom>
          <a:solidFill>
            <a:srgbClr val="F6416C">
              <a:alpha val="8000"/>
            </a:srgbClr>
          </a:solidFill>
          <a:ln w="12700">
            <a:solidFill>
              <a:srgbClr val="F64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64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FALTOU NA ANÁLISE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249424"/>
            <a:ext cx="146304" cy="146304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1945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define o público (usa “O(log n)” sem explicar logaritmo)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026664"/>
            <a:ext cx="146304" cy="146304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9718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exemplo numérico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803904"/>
            <a:ext cx="146304" cy="146304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7490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menciona a pré-condição: o vetor precisa estar ordenado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581144"/>
            <a:ext cx="146304" cy="146304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45262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genéricas (“bancos de dados”) sem detalhar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5358384"/>
            <a:ext cx="146304" cy="146304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530352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forma de verificar se o estudante entendeu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PRIMEIRO REFINAMENTO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2 — papel, público e formato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241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19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Atue como professor de Ciência da Computação.
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busca binária para estudantes do 1º ano que já conhecem vetores e laços, mas nunca viram algoritmos de busca.
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Apresente: 1) definição simples; 2) passo a passo; 3) exemplo numérico; 4) comparação com busca linear.
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acessível, ~400 palavras.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190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ADICIONADOS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37960" y="214884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(professor)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0" y="214884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(1º ano, pré-requisitos)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269748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4 tópicos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269748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2606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de linguagem e tamanho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041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MELHOROU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4343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ganhou definição clara, passo a passo, um exemplo numérico concreto e uma tabela comparativa de eficiência.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64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FALTAVA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537667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afirma que o vetor precisa estar ordenado; sem alerta de erro comum; sem checagem de aprendizado.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COMPARAR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1 x Prompt 2: o que mudou na nota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4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SEGUNDO REFINAMENTO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3 — contexto, pré-condição e critério de qualidade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241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64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ACRESCENTADO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1956816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nível da turma + prova em breve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715768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615184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 obrigatória (vetor ordenado) e o que ocorre se for violada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37413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273552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do exemplo com índices início/fim/meio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032504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93192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 de implementação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690872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59028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com subtítulos e tabela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34924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5248656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QUALIDADE + 2 perguntas finais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48132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DO EXEMPLO (VALOR 23)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28800"/>
          <a:ext cx="5669280" cy="1417320"/>
        </p:xfrm>
        <a:graphic>
          <a:graphicData uri="http://schemas.openxmlformats.org/drawingml/2006/table">
            <a:tbl>
              <a:tblPr/>
              <a:tblGrid>
                <a:gridCol w="944880"/>
                <a:gridCol w="944880"/>
                <a:gridCol w="944880"/>
                <a:gridCol w="944880"/>
                <a:gridCol w="944880"/>
                <a:gridCol w="944880"/>
              </a:tblGrid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vetor[meio]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6B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&gt; 16 -&gt; início =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&lt; 45 -&gt; fim =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Encontrado!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852160" y="352044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3657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O(n) x O(log n)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3977640"/>
          <a:ext cx="5212080" cy="13716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 caso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Vetor com 1 milhão de itens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linear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1.000.000 comparações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binária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1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comparações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6080760" y="5486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manualmente com o vetor de exemplo para confirmar que os índices batem com o resultado apresentado pela IA.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 · VALIDAR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final das três versões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7040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417320"/>
            <a:ext cx="3611880" cy="5257800"/>
          </a:xfrm>
          <a:prstGeom prst="roundRect">
            <a:avLst>
              <a:gd name="adj" fmla="val 2532"/>
            </a:avLst>
          </a:prstGeom>
          <a:solidFill>
            <a:srgbClr val="241A4A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TOTAL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83880" y="2011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4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183880" y="26334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/ 35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8388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183880" y="3685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 / 35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8388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183880" y="47365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 / 35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53492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Prompt 3 atinge nota máxima em todos os critérios avaliados: contexto, pré-condição, rastreamento e checagem de aprendizado fizeram a diferença.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· ÉTICA E RESPONSABILIDADE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bem escrita não é sinônimo de resposta correta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cartilha “IA no comando? Você no controle” alerta: textos coerentes e convincentes ainda podem trazer conceitos incorretos, dados sem fonte ou referências inventadas. Por isso, validamos cada afirmação do Prompt 3 antes de usá-la para estudar: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788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confirmada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1927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para busca linear e O(log n) para busca binária são fatos consolidados na literatura (ex.: Cormen et al.).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6060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2834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788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refeito à mão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331927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Recalculamos início/fim/meio do vetor de teste e confirmamos que o valor 23 é encontrado na 3ª iteração.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 coerente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19379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exigência de vetor ordenado é um requisito conhecido do algoritmo, coerente com o passo a passo descrito.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48056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47091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4663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fontes duvidosas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519379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não citou autores, estatísticas externas nem referências — reduzindo o risco de dados “alucinados”.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4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· REFLEXÃO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essa comparação nos ensinou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43100"/>
            <a:ext cx="365760" cy="365760"/>
          </a:xfrm>
          <a:prstGeom prst="ellipse">
            <a:avLst/>
          </a:prstGeom>
          <a:solidFill>
            <a:srgbClr val="3B2A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3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não é qualidade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Prompt 3 é mais longo, mas o que melhorou a resposta foi a especificidade de cada seção, não a quantidade de palavras.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5010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501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8986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indefinido = resposta genérica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898648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saber o público, a IA usa termos técnicos sem explicar — foi o que aconteceu no Prompt 1 com “O(log n)”.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57116"/>
            <a:ext cx="365760" cy="365760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571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105656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4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Pré-condições importam em temas técnicos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4105656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Prompt 3 explicitou que o vetor precisa estar ordenado — um detalhe essencial que os anteriores omitiram.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64124"/>
            <a:ext cx="365760" cy="365760"/>
          </a:xfrm>
          <a:prstGeom prst="ellipse">
            <a:avLst/>
          </a:prstGeom>
          <a:solidFill>
            <a:srgbClr val="3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5641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312664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não substitui verificar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5312664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 melhor resposta foi conferida manualmente antes de ser usada como material de estudo.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recomendações práticas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3B2A6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 bom prompt não é simplesmente um prompt longo. Ele precisa ser específico o suficiente para eliminar as principais ambiguidades que a IA teria de adivinhar.”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3B2A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papel e público antes de pedir o conteúdo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1071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4107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exemplos concretos e o raciocínio passo a passo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F6416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12394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 pré-condições, restrições e formato de saída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37176"/>
            <a:ext cx="502920" cy="502920"/>
          </a:xfrm>
          <a:prstGeom prst="ellipse">
            <a:avLst/>
          </a:prstGeom>
          <a:solidFill>
            <a:srgbClr val="3B2A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37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83717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Estabeleça um critério de qualidade objetivo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5504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50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55504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aceite a 1ª resposta sem verificar tecnicamente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7665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6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777240" cy="1051560"/>
          </a:xfrm>
          <a:prstGeom prst="roundRect">
            <a:avLst>
              <a:gd name="adj" fmla="val 7059"/>
            </a:avLst>
          </a:prstGeom>
          <a:solidFill>
            <a:srgbClr val="3B2A6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777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4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IA STHEM/SEMESP; METARED TIC BRASIL.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237744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3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no comando? Você no controle: guia prático para usar a inteligência artificial de forma inteligente, crítica e responsável na universidade.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352044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Concepção, desenvolvimento e projeto gráfico: B42 EdTech; Karina N. Tomelin; Henrique Bergamasco.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4206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978-85-60272-27-3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48006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Realização: Grupo IA STHEM (Consórcio de Inovação Acadêmica) · SEMESP · MetaRed TIC Brasil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525780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Cartilha utilizada como material de apoio conceitual: definição de refinamento de prompt, estrutura de comandos (papel, tarefa, cenário, formato de saída) e princípios de validação crítica de respostas de IA.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1645920"/>
            <a:ext cx="3886200" cy="4297680"/>
          </a:xfrm>
          <a:prstGeom prst="roundRect">
            <a:avLst>
              <a:gd name="adj" fmla="val 2824"/>
            </a:avLst>
          </a:prstGeom>
          <a:solidFill>
            <a:srgbClr val="241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18745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DA CARTILHA APLICADOS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09560" y="25603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44144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apoia o aprendizado, mas não substitui o pensamento crítico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9560" y="36118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49300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comandos explicitam perfil, tarefa, cenário e formato de saída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09560" y="46634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45445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resposta de IA deve ser conferida antes de ser usada academicamente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3657600" cy="3657600"/>
          </a:xfrm>
          <a:prstGeom prst="ellipse">
            <a:avLst/>
          </a:prstGeom>
          <a:solidFill>
            <a:srgbClr val="3B2A6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IA para 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melhor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para pensar menos.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→  Resposta  →  Análise  →  Refinamento  →  Nova resposta  →  Comparação  →  Validação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0241280" cy="1691640"/>
          </a:xfrm>
          <a:prstGeom prst="roundRect">
            <a:avLst>
              <a:gd name="adj" fmla="val 6486"/>
            </a:avLst>
          </a:prstGeom>
          <a:solidFill>
            <a:srgbClr val="3B2A6B">
              <a:alpha val="70000"/>
            </a:srgbClr>
          </a:solidFill>
          <a:ln w="12700">
            <a:solidFill>
              <a:srgbClr val="5B4A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297680"/>
            <a:ext cx="9601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 mandamentos, em uma frase: IA ajuda; a autoria, a verificação e o pensamento crítico continuam sendo seus. Você é o piloto — a IA é copiloto.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Jhonathan de Moura Santos (RGM 32813589)  ·  Melissa Aragão Leite (RGM 33999554)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2026-09-04T00:12:47Z</dcterms:created>
  <dcterms:modified xsi:type="dcterms:W3CDTF">2026-09-04T00:12:47Z</dcterms:modified>
</cp:coreProperties>
</file>